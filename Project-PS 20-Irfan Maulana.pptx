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15"/>
  </p:notesMasterIdLst>
  <p:sldIdLst>
    <p:sldId id="256" r:id="rId3"/>
    <p:sldId id="257" r:id="rId4"/>
    <p:sldId id="260" r:id="rId5"/>
    <p:sldId id="258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59" r:id="rId14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Light" panose="00000400000000000000" pitchFamily="2" charset="0"/>
      <p:regular r:id="rId20"/>
      <p:bold r:id="rId21"/>
      <p:italic r:id="rId22"/>
      <p:boldItalic r:id="rId23"/>
    </p:embeddedFont>
    <p:embeddedFont>
      <p:font typeface="Poppins SemiBold" panose="000007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7F7F7"/>
    <a:srgbClr val="188038"/>
    <a:srgbClr val="C4F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16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8569ad431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8569ad431c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9ad431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569ad431c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4DD47FB7-9FCF-E4B9-A0B8-CFE8DCF6D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>
            <a:extLst>
              <a:ext uri="{FF2B5EF4-FFF2-40B4-BE49-F238E27FC236}">
                <a16:creationId xmlns:a16="http://schemas.microsoft.com/office/drawing/2014/main" id="{C179B304-717A-FC2F-6729-2DE5ED6C53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>
            <a:extLst>
              <a:ext uri="{FF2B5EF4-FFF2-40B4-BE49-F238E27FC236}">
                <a16:creationId xmlns:a16="http://schemas.microsoft.com/office/drawing/2014/main" id="{6CEF0DC8-CD91-B812-1A1E-068B21F470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1806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569ad431c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569ad431c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215700" y="859800"/>
            <a:ext cx="40203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215700" y="4107600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080000" y="1958850"/>
            <a:ext cx="6984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815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672450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65500" y="1425175"/>
            <a:ext cx="26385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ubTitle" idx="1"/>
          </p:nvPr>
        </p:nvSpPr>
        <p:spPr>
          <a:xfrm>
            <a:off x="265500" y="3144000"/>
            <a:ext cx="2386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3972000" y="724075"/>
            <a:ext cx="48045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title"/>
          </p:nvPr>
        </p:nvSpPr>
        <p:spPr>
          <a:xfrm>
            <a:off x="1829850" y="206502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06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0D606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Char char="●"/>
              <a:defRPr sz="18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ulrikeherold/tech-layoffs-2020-2024" TargetMode="External"/><Relationship Id="rId7" Type="http://schemas.openxmlformats.org/officeDocument/2006/relationships/hyperlink" Target="https://github.com/fafnir9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linkedin.com/in/maulana-irfan/" TargetMode="External"/><Relationship Id="rId5" Type="http://schemas.openxmlformats.org/officeDocument/2006/relationships/hyperlink" Target="https://colab.research.google.com/drive/1cT5T0dT0LQ6cRGM4pIw0ECCZKy_SYrNy?usp=sharing" TargetMode="External"/><Relationship Id="rId4" Type="http://schemas.openxmlformats.org/officeDocument/2006/relationships/hyperlink" Target="https://lookerstudio.google.com/reporting/8d41422d-251e-4cf9-b54e-52609337b02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ctrTitle"/>
          </p:nvPr>
        </p:nvSpPr>
        <p:spPr>
          <a:xfrm>
            <a:off x="215700" y="859800"/>
            <a:ext cx="40203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dirty="0"/>
              <a:t>Global Tech Layoff Analysis (2020 - 2024)</a:t>
            </a:r>
            <a:endParaRPr dirty="0"/>
          </a:p>
        </p:txBody>
      </p:sp>
      <p:sp>
        <p:nvSpPr>
          <p:cNvPr id="90" name="Google Shape;90;p23"/>
          <p:cNvSpPr txBox="1">
            <a:spLocks noGrp="1"/>
          </p:cNvSpPr>
          <p:nvPr>
            <p:ph type="subTitle" idx="1"/>
          </p:nvPr>
        </p:nvSpPr>
        <p:spPr>
          <a:xfrm>
            <a:off x="215700" y="44436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35"/>
              <a:buNone/>
            </a:pPr>
            <a:r>
              <a:rPr lang="en" dirty="0"/>
              <a:t>Irfan Maulana</a:t>
            </a:r>
            <a:endParaRPr dirty="0"/>
          </a:p>
        </p:txBody>
      </p:sp>
      <p:sp>
        <p:nvSpPr>
          <p:cNvPr id="91" name="Google Shape;91;p23"/>
          <p:cNvSpPr txBox="1"/>
          <p:nvPr/>
        </p:nvSpPr>
        <p:spPr>
          <a:xfrm>
            <a:off x="215700" y="38529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rgbClr val="21212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Bootcamp Data Analyst with SQL &amp; Python using Google Platform</a:t>
            </a:r>
            <a:endParaRPr sz="1900" dirty="0">
              <a:solidFill>
                <a:srgbClr val="21212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world&#10;&#10;AI-generated content may be incorrect.">
            <a:extLst>
              <a:ext uri="{FF2B5EF4-FFF2-40B4-BE49-F238E27FC236}">
                <a16:creationId xmlns:a16="http://schemas.microsoft.com/office/drawing/2014/main" id="{600801DF-73FE-3766-0E4E-EE1BDF01B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15" y="606347"/>
            <a:ext cx="4326672" cy="330006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CBBB91-6DC1-1359-D405-7D7FA443EC1E}"/>
              </a:ext>
            </a:extLst>
          </p:cNvPr>
          <p:cNvSpPr txBox="1"/>
          <p:nvPr/>
        </p:nvSpPr>
        <p:spPr>
          <a:xfrm>
            <a:off x="4683514" y="606347"/>
            <a:ext cx="2215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C4F63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|</a:t>
            </a:r>
            <a:r>
              <a:rPr lang="en-US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BACKGROUND</a:t>
            </a:r>
            <a:endParaRPr lang="id-ID" sz="1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AF5A0E-5705-4C7F-6D08-A8D900BD61F2}"/>
              </a:ext>
            </a:extLst>
          </p:cNvPr>
          <p:cNvSpPr txBox="1"/>
          <p:nvPr/>
        </p:nvSpPr>
        <p:spPr>
          <a:xfrm>
            <a:off x="4683514" y="975679"/>
            <a:ext cx="42374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Sektor teknologi mengalami guncangan hebat pasca-pandemi, ditandai dengan gelombang PHK massal (</a:t>
            </a:r>
            <a:r>
              <a:rPr lang="id-ID" sz="1200" i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layoffs</a:t>
            </a:r>
            <a:r>
              <a:rPr lang="id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) yang belum pernah terjadi sebelumnya.</a:t>
            </a:r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id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Banyaknya ketidakpastian mengenai siapa yang paling terdampak. Apakah perusahaan raksasa (</a:t>
            </a:r>
            <a:r>
              <a:rPr lang="id-ID" sz="12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Big </a:t>
            </a:r>
            <a:r>
              <a:rPr lang="id-ID" sz="1200" i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Tech</a:t>
            </a:r>
            <a:r>
              <a:rPr lang="id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) atau </a:t>
            </a:r>
            <a:r>
              <a:rPr lang="id-ID" sz="1200" i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startup</a:t>
            </a:r>
            <a:r>
              <a:rPr lang="id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kecil? Apakah pendanaan besar menjamin keamanan kerja?</a:t>
            </a:r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sv-SE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Analisis ini bertujuan membedah pola PHK berdasarkan Geografi, Industri, Tahapan Perusahaan (Stage), dan Kesehatan Finansial untuk memberikan wawasan bagi pencari kerja dan investor.</a:t>
            </a:r>
            <a:endParaRPr lang="id-ID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4;p25">
            <a:extLst>
              <a:ext uri="{FF2B5EF4-FFF2-40B4-BE49-F238E27FC236}">
                <a16:creationId xmlns:a16="http://schemas.microsoft.com/office/drawing/2014/main" id="{09B09A7A-7D34-4FA6-D09F-BBE9967D0395}"/>
              </a:ext>
            </a:extLst>
          </p:cNvPr>
          <p:cNvSpPr/>
          <p:nvPr/>
        </p:nvSpPr>
        <p:spPr>
          <a:xfrm>
            <a:off x="630504" y="887980"/>
            <a:ext cx="3560700" cy="1253056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3F7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Tech Layoffs Dataset (Combined from 2020 - 2025) </a:t>
            </a:r>
            <a:r>
              <a:rPr lang="en-US" sz="1200" dirty="0" err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12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https://layoffs.fyi/.</a:t>
            </a:r>
            <a:endParaRPr sz="12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05;p25">
            <a:extLst>
              <a:ext uri="{FF2B5EF4-FFF2-40B4-BE49-F238E27FC236}">
                <a16:creationId xmlns:a16="http://schemas.microsoft.com/office/drawing/2014/main" id="{B2716873-828E-595B-36B1-8A101A195171}"/>
              </a:ext>
            </a:extLst>
          </p:cNvPr>
          <p:cNvSpPr/>
          <p:nvPr/>
        </p:nvSpPr>
        <p:spPr>
          <a:xfrm>
            <a:off x="1142456" y="778405"/>
            <a:ext cx="2574900" cy="321900"/>
          </a:xfrm>
          <a:prstGeom prst="rect">
            <a:avLst/>
          </a:prstGeom>
          <a:solidFill>
            <a:srgbClr val="C3F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Source</a:t>
            </a:r>
            <a:endParaRPr sz="13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1B8A53-0A28-D452-B659-ED28F2466771}"/>
              </a:ext>
            </a:extLst>
          </p:cNvPr>
          <p:cNvSpPr txBox="1"/>
          <p:nvPr/>
        </p:nvSpPr>
        <p:spPr>
          <a:xfrm>
            <a:off x="933652" y="165501"/>
            <a:ext cx="2686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4F63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|</a:t>
            </a:r>
            <a:r>
              <a:rPr lang="en-US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ABOUT DATA</a:t>
            </a:r>
            <a:endParaRPr lang="id-ID" sz="2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Google Shape;104;p25">
            <a:extLst>
              <a:ext uri="{FF2B5EF4-FFF2-40B4-BE49-F238E27FC236}">
                <a16:creationId xmlns:a16="http://schemas.microsoft.com/office/drawing/2014/main" id="{31F51482-02E8-A223-F90D-7303C0B33A29}"/>
              </a:ext>
            </a:extLst>
          </p:cNvPr>
          <p:cNvSpPr/>
          <p:nvPr/>
        </p:nvSpPr>
        <p:spPr>
          <a:xfrm>
            <a:off x="4423316" y="887980"/>
            <a:ext cx="4023289" cy="1253056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3F7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2,000+ Perusahaan Teknologi 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terdata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(setelah 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cleaning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lang="en-US"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Mencakup 558,000+ karyawan terdampak.</a:t>
            </a:r>
            <a:endParaRPr lang="en-US"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Rentang waktu: 2020 hingga Q1 2025 (Prediksi/Data berjalan).</a:t>
            </a:r>
            <a:endParaRPr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105;p25">
            <a:extLst>
              <a:ext uri="{FF2B5EF4-FFF2-40B4-BE49-F238E27FC236}">
                <a16:creationId xmlns:a16="http://schemas.microsoft.com/office/drawing/2014/main" id="{6A0275F8-5697-9815-9407-0AC339FEF09A}"/>
              </a:ext>
            </a:extLst>
          </p:cNvPr>
          <p:cNvSpPr/>
          <p:nvPr/>
        </p:nvSpPr>
        <p:spPr>
          <a:xfrm>
            <a:off x="5063338" y="778405"/>
            <a:ext cx="2909419" cy="321900"/>
          </a:xfrm>
          <a:prstGeom prst="rect">
            <a:avLst/>
          </a:prstGeom>
          <a:solidFill>
            <a:srgbClr val="C3F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Coverage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Google Shape;104;p25">
            <a:extLst>
              <a:ext uri="{FF2B5EF4-FFF2-40B4-BE49-F238E27FC236}">
                <a16:creationId xmlns:a16="http://schemas.microsoft.com/office/drawing/2014/main" id="{CDDF5787-C82B-25A5-6435-BB424A10CD11}"/>
              </a:ext>
            </a:extLst>
          </p:cNvPr>
          <p:cNvSpPr/>
          <p:nvPr/>
        </p:nvSpPr>
        <p:spPr>
          <a:xfrm>
            <a:off x="630504" y="2511425"/>
            <a:ext cx="3560700" cy="1599658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3F7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sz="12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Demographics: Company, Location HQ, Industry, Country.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Financials: Money Raised (Mil $), Stage (IPO, Series A-J).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Impact: Laid Off Count, Percentage of Workforce Affected.</a:t>
            </a:r>
            <a:endParaRPr sz="12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Google Shape;105;p25">
            <a:extLst>
              <a:ext uri="{FF2B5EF4-FFF2-40B4-BE49-F238E27FC236}">
                <a16:creationId xmlns:a16="http://schemas.microsoft.com/office/drawing/2014/main" id="{9B18A7E3-52D6-ED5D-EA23-F28D0D13BFC8}"/>
              </a:ext>
            </a:extLst>
          </p:cNvPr>
          <p:cNvSpPr/>
          <p:nvPr/>
        </p:nvSpPr>
        <p:spPr>
          <a:xfrm>
            <a:off x="1142456" y="2401850"/>
            <a:ext cx="2574900" cy="321900"/>
          </a:xfrm>
          <a:prstGeom prst="rect">
            <a:avLst/>
          </a:prstGeom>
          <a:solidFill>
            <a:srgbClr val="C3F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Variables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104;p25">
            <a:extLst>
              <a:ext uri="{FF2B5EF4-FFF2-40B4-BE49-F238E27FC236}">
                <a16:creationId xmlns:a16="http://schemas.microsoft.com/office/drawing/2014/main" id="{2A7D0D35-B9F2-4AB0-C209-335E2175139D}"/>
              </a:ext>
            </a:extLst>
          </p:cNvPr>
          <p:cNvSpPr/>
          <p:nvPr/>
        </p:nvSpPr>
        <p:spPr>
          <a:xfrm>
            <a:off x="4423316" y="2511425"/>
            <a:ext cx="4023289" cy="1599658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3F7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Pandas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NumPy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): Untuk pembersihan data (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cleaning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), normalisasi teks, dan 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imputasi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nilai kosong.</a:t>
            </a:r>
            <a:endParaRPr lang="en-US"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Looker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Studio: Untuk visualisasi interaktif dan 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dashboarding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105;p25">
            <a:extLst>
              <a:ext uri="{FF2B5EF4-FFF2-40B4-BE49-F238E27FC236}">
                <a16:creationId xmlns:a16="http://schemas.microsoft.com/office/drawing/2014/main" id="{DBA8BA41-5A1B-64A5-0553-CD7DD52A7628}"/>
              </a:ext>
            </a:extLst>
          </p:cNvPr>
          <p:cNvSpPr/>
          <p:nvPr/>
        </p:nvSpPr>
        <p:spPr>
          <a:xfrm>
            <a:off x="5063338" y="2401850"/>
            <a:ext cx="2909419" cy="321900"/>
          </a:xfrm>
          <a:prstGeom prst="rect">
            <a:avLst/>
          </a:prstGeom>
          <a:solidFill>
            <a:srgbClr val="C3F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 &amp; Libraries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4449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8;p26">
            <a:extLst>
              <a:ext uri="{FF2B5EF4-FFF2-40B4-BE49-F238E27FC236}">
                <a16:creationId xmlns:a16="http://schemas.microsoft.com/office/drawing/2014/main" id="{F280EB9B-AB32-C747-DBD4-2C030531E483}"/>
              </a:ext>
            </a:extLst>
          </p:cNvPr>
          <p:cNvSpPr txBox="1"/>
          <p:nvPr/>
        </p:nvSpPr>
        <p:spPr>
          <a:xfrm>
            <a:off x="466350" y="423889"/>
            <a:ext cx="82113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Cleaning &amp; Preparation</a:t>
            </a:r>
            <a:endParaRPr sz="1800" dirty="0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Google Shape;119;p26">
            <a:extLst>
              <a:ext uri="{FF2B5EF4-FFF2-40B4-BE49-F238E27FC236}">
                <a16:creationId xmlns:a16="http://schemas.microsoft.com/office/drawing/2014/main" id="{5CDD5CA2-9CCB-5AC3-2FAF-C961C64FA549}"/>
              </a:ext>
            </a:extLst>
          </p:cNvPr>
          <p:cNvSpPr/>
          <p:nvPr/>
        </p:nvSpPr>
        <p:spPr>
          <a:xfrm>
            <a:off x="313950" y="497842"/>
            <a:ext cx="76200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2C4C92-35A9-F346-D3B2-DA8B9B090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555872"/>
              </p:ext>
            </p:extLst>
          </p:nvPr>
        </p:nvGraphicFramePr>
        <p:xfrm>
          <a:off x="313950" y="1028989"/>
          <a:ext cx="8363700" cy="3284746"/>
        </p:xfrm>
        <a:graphic>
          <a:graphicData uri="http://schemas.openxmlformats.org/drawingml/2006/table">
            <a:tbl>
              <a:tblPr firstRow="1" bandRow="1"/>
              <a:tblGrid>
                <a:gridCol w="721646">
                  <a:extLst>
                    <a:ext uri="{9D8B030D-6E8A-4147-A177-3AD203B41FA5}">
                      <a16:colId xmlns:a16="http://schemas.microsoft.com/office/drawing/2014/main" val="4091522305"/>
                    </a:ext>
                  </a:extLst>
                </a:gridCol>
                <a:gridCol w="3687337">
                  <a:extLst>
                    <a:ext uri="{9D8B030D-6E8A-4147-A177-3AD203B41FA5}">
                      <a16:colId xmlns:a16="http://schemas.microsoft.com/office/drawing/2014/main" val="3585737168"/>
                    </a:ext>
                  </a:extLst>
                </a:gridCol>
                <a:gridCol w="3954717">
                  <a:extLst>
                    <a:ext uri="{9D8B030D-6E8A-4147-A177-3AD203B41FA5}">
                      <a16:colId xmlns:a16="http://schemas.microsoft.com/office/drawing/2014/main" val="4208472222"/>
                    </a:ext>
                  </a:extLst>
                </a:gridCol>
              </a:tblGrid>
              <a:tr h="4043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7F7F7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Step</a:t>
                      </a:r>
                      <a:endParaRPr lang="id-ID" b="1" dirty="0">
                        <a:solidFill>
                          <a:srgbClr val="F7F7F7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188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7F7F7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Action </a:t>
                      </a:r>
                      <a:endParaRPr lang="id-ID" b="1" dirty="0">
                        <a:solidFill>
                          <a:srgbClr val="F7F7F7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188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7F7F7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Description</a:t>
                      </a:r>
                      <a:endParaRPr lang="id-ID" b="1" dirty="0">
                        <a:solidFill>
                          <a:srgbClr val="F7F7F7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solidFill>
                      <a:srgbClr val="188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755250"/>
                  </a:ext>
                </a:extLst>
              </a:tr>
              <a:tr h="36427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  <a:endParaRPr lang="id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Date 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Standardization</a:t>
                      </a:r>
                      <a:endParaRPr lang="id-ID" sz="1100" b="0" i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Mengonversi format tanggal yang tidak konsisten (format </a:t>
                      </a:r>
                      <a:r>
                        <a:rPr lang="id-ID" sz="11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DD.MM.YY </a:t>
                      </a:r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bercampur dengan lainnya) menjadi format </a:t>
                      </a:r>
                      <a:r>
                        <a:rPr lang="id-ID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datetime</a:t>
                      </a:r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standar.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267129"/>
                  </a:ext>
                </a:extLst>
              </a:tr>
              <a:tr h="32710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  <a:endParaRPr lang="id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Handling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Missing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Values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(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Imputation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Mengisi nilai </a:t>
                      </a:r>
                      <a:r>
                        <a:rPr lang="id-ID" sz="11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Laid_Off</a:t>
                      </a:r>
                      <a:r>
                        <a:rPr lang="id-ID" sz="11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yang kosong menggunakan logika matematika:</a:t>
                      </a:r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id-ID" sz="11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Formula: </a:t>
                      </a:r>
                      <a:r>
                        <a:rPr lang="id-ID" sz="11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Laid_Off</a:t>
                      </a:r>
                      <a:r>
                        <a:rPr lang="id-ID" sz="11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= </a:t>
                      </a:r>
                      <a:r>
                        <a:rPr lang="id-ID" sz="11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Company_Size</a:t>
                      </a:r>
                      <a:r>
                        <a:rPr lang="id-ID" sz="11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* (</a:t>
                      </a:r>
                      <a:r>
                        <a:rPr lang="id-ID" sz="11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Percentage</a:t>
                      </a:r>
                      <a:r>
                        <a:rPr lang="id-ID" sz="11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/ 100).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925193"/>
                  </a:ext>
                </a:extLst>
              </a:tr>
              <a:tr h="27506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  <a:endParaRPr lang="id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Name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&amp; 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Entity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Fixing</a:t>
                      </a:r>
                      <a:endParaRPr lang="id-ID" sz="1100" b="0" i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Memperbaiki </a:t>
                      </a:r>
                      <a:r>
                        <a:rPr lang="id-ID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typo</a:t>
                      </a:r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nama perusahaan yang rusak (Contoh: "</a:t>
                      </a:r>
                      <a:r>
                        <a:rPr lang="id-ID" sz="11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SaleSan</a:t>
                      </a:r>
                      <a:r>
                        <a:rPr lang="id-ID" sz="11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Francisco...</a:t>
                      </a:r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" menjadi "</a:t>
                      </a:r>
                      <a:r>
                        <a:rPr lang="id-ID" sz="11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Salesforce</a:t>
                      </a:r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", "</a:t>
                      </a:r>
                      <a:r>
                        <a:rPr lang="id-ID" sz="11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TranSan</a:t>
                      </a:r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..." menjadi "</a:t>
                      </a:r>
                      <a:r>
                        <a:rPr lang="id-ID" sz="11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Transfix</a:t>
                      </a:r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").</a:t>
                      </a:r>
                      <a:endParaRPr lang="en-US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Standarisasi Industri (Contoh: Menggabungkan "</a:t>
                      </a:r>
                      <a:r>
                        <a:rPr lang="id-ID" sz="11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Transportion</a:t>
                      </a:r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" ke "</a:t>
                      </a:r>
                      <a:r>
                        <a:rPr lang="id-ID" sz="11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Transportation</a:t>
                      </a:r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").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629832"/>
                  </a:ext>
                </a:extLst>
              </a:tr>
              <a:tr h="297366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</a:t>
                      </a:r>
                      <a:endParaRPr lang="id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Location</a:t>
                      </a:r>
                      <a:r>
                        <a:rPr lang="id-ID" sz="1100" b="0" i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id-ID" sz="1100" b="0" i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Mapping</a:t>
                      </a:r>
                      <a:endParaRPr lang="id-ID" sz="1100" b="0" i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Memetakan kota ke Negara/Benua yang sesuai dan membersihkan nama lokasi (misal: menghapus "Bay Area" yang berlebihan) untuk akurasi peta </a:t>
                      </a:r>
                      <a:r>
                        <a:rPr lang="id-ID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geospasial</a:t>
                      </a:r>
                      <a:r>
                        <a:rPr lang="id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9294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161E7006-D80F-8564-0545-0EE1F1EC4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8;p26">
            <a:extLst>
              <a:ext uri="{FF2B5EF4-FFF2-40B4-BE49-F238E27FC236}">
                <a16:creationId xmlns:a16="http://schemas.microsoft.com/office/drawing/2014/main" id="{72F13760-768F-5623-57A6-117A7BD1A3A5}"/>
              </a:ext>
            </a:extLst>
          </p:cNvPr>
          <p:cNvSpPr txBox="1"/>
          <p:nvPr/>
        </p:nvSpPr>
        <p:spPr>
          <a:xfrm>
            <a:off x="991571" y="24283"/>
            <a:ext cx="2221394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CRISIS SNAPSHOT</a:t>
            </a:r>
            <a:endParaRPr sz="1800" dirty="0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Google Shape;119;p26">
            <a:extLst>
              <a:ext uri="{FF2B5EF4-FFF2-40B4-BE49-F238E27FC236}">
                <a16:creationId xmlns:a16="http://schemas.microsoft.com/office/drawing/2014/main" id="{DF10DFBC-86A4-C5C1-5550-C811A382472F}"/>
              </a:ext>
            </a:extLst>
          </p:cNvPr>
          <p:cNvSpPr/>
          <p:nvPr/>
        </p:nvSpPr>
        <p:spPr>
          <a:xfrm>
            <a:off x="945852" y="98233"/>
            <a:ext cx="45719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" name="Picture 5" descr="A white paper with red text and numbers&#10;&#10;AI-generated content may be incorrect.">
            <a:extLst>
              <a:ext uri="{FF2B5EF4-FFF2-40B4-BE49-F238E27FC236}">
                <a16:creationId xmlns:a16="http://schemas.microsoft.com/office/drawing/2014/main" id="{69C1CEF1-774A-69D8-4751-8A24289D8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17" y="2763377"/>
            <a:ext cx="3545537" cy="1612787"/>
          </a:xfrm>
          <a:prstGeom prst="rect">
            <a:avLst/>
          </a:prstGeom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0DD43356-5232-34AD-36D7-CADF9DF19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17" y="629383"/>
            <a:ext cx="7943200" cy="2133994"/>
          </a:xfrm>
          <a:prstGeom prst="rect">
            <a:avLst/>
          </a:prstGeom>
        </p:spPr>
      </p:pic>
      <p:sp>
        <p:nvSpPr>
          <p:cNvPr id="9" name="Google Shape;127;p27">
            <a:extLst>
              <a:ext uri="{FF2B5EF4-FFF2-40B4-BE49-F238E27FC236}">
                <a16:creationId xmlns:a16="http://schemas.microsoft.com/office/drawing/2014/main" id="{7C148C74-ACDB-B184-0C8B-A406C1EE4200}"/>
              </a:ext>
            </a:extLst>
          </p:cNvPr>
          <p:cNvSpPr txBox="1"/>
          <p:nvPr/>
        </p:nvSpPr>
        <p:spPr>
          <a:xfrm>
            <a:off x="3969834" y="2837327"/>
            <a:ext cx="4871700" cy="195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558.109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karyawan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terkena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PHK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1.521 Perusahaan.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Bukan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Sekadar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Efisiensi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Tapi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Restrukturisasi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Angka 25%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sangat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tinggi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Biasanya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pemangkasan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efisiensi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rutin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hanya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berkisar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5-10%.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Amerika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Serikat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menjadi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pusat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badai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PHK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lebih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400.000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kasus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jauh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melampaui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India, Jerman, dan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Inggris</a:t>
            </a:r>
            <a:endParaRPr lang="en-US"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Lonjakan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PHK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terbesar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terjadi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pada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awal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tahun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2023 (Q1),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mengindikasikan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adanya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koreksi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pasar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besar-besaran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pasca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pandemi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Google Shape;119;p26">
            <a:extLst>
              <a:ext uri="{FF2B5EF4-FFF2-40B4-BE49-F238E27FC236}">
                <a16:creationId xmlns:a16="http://schemas.microsoft.com/office/drawing/2014/main" id="{EED153ED-9765-7700-AB9B-F897FFA3B877}"/>
              </a:ext>
            </a:extLst>
          </p:cNvPr>
          <p:cNvSpPr/>
          <p:nvPr/>
        </p:nvSpPr>
        <p:spPr>
          <a:xfrm>
            <a:off x="3858322" y="2990924"/>
            <a:ext cx="52039" cy="10606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highlight>
                <a:srgbClr val="FFFF00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23921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7;p29">
            <a:extLst>
              <a:ext uri="{FF2B5EF4-FFF2-40B4-BE49-F238E27FC236}">
                <a16:creationId xmlns:a16="http://schemas.microsoft.com/office/drawing/2014/main" id="{F54EAE3D-BEAF-9660-4146-40457EB847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4100" y="448050"/>
            <a:ext cx="82113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2"/>
                </a:solidFill>
              </a:rPr>
              <a:t>Temporal Trends</a:t>
            </a:r>
            <a:endParaRPr lang="id-ID" b="1" dirty="0">
              <a:solidFill>
                <a:schemeClr val="dk2"/>
              </a:solidFill>
            </a:endParaRPr>
          </a:p>
        </p:txBody>
      </p:sp>
      <p:sp>
        <p:nvSpPr>
          <p:cNvPr id="5" name="Google Shape;148;p29">
            <a:extLst>
              <a:ext uri="{FF2B5EF4-FFF2-40B4-BE49-F238E27FC236}">
                <a16:creationId xmlns:a16="http://schemas.microsoft.com/office/drawing/2014/main" id="{BDC5BD01-9370-DAE3-524C-19926D1D0451}"/>
              </a:ext>
            </a:extLst>
          </p:cNvPr>
          <p:cNvSpPr/>
          <p:nvPr/>
        </p:nvSpPr>
        <p:spPr>
          <a:xfrm>
            <a:off x="311700" y="522003"/>
            <a:ext cx="76200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1D54A8A0-D742-BC33-997A-5BE5B3E7B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246" y="979203"/>
            <a:ext cx="5954315" cy="2234636"/>
          </a:xfrm>
          <a:prstGeom prst="rect">
            <a:avLst/>
          </a:prstGeom>
        </p:spPr>
      </p:pic>
      <p:sp>
        <p:nvSpPr>
          <p:cNvPr id="8" name="Google Shape;149;p29">
            <a:extLst>
              <a:ext uri="{FF2B5EF4-FFF2-40B4-BE49-F238E27FC236}">
                <a16:creationId xmlns:a16="http://schemas.microsoft.com/office/drawing/2014/main" id="{2063197F-6019-7F0F-0225-98F43DAEB232}"/>
              </a:ext>
            </a:extLst>
          </p:cNvPr>
          <p:cNvSpPr txBox="1"/>
          <p:nvPr/>
        </p:nvSpPr>
        <p:spPr>
          <a:xfrm>
            <a:off x="4610101" y="3255517"/>
            <a:ext cx="4313295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-152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Tahun 2023 adalah tahun koreksi terbesar pasca-pandemi. Perusahaan menyadari mereka </a:t>
            </a:r>
            <a:r>
              <a:rPr lang="id-ID" sz="1000" i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overhiring</a:t>
            </a: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(terlalu banyak merekrut) saat pandemi dan harus memangkas beban secara drastis karena ketakutan resesi.</a:t>
            </a:r>
            <a:endParaRPr lang="en-US"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14300" lvl="0" indent="-152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Meskipun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PHK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masih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terjadi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di 2024,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volumenya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menurun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Ini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menandakan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pasar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mulai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stabil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namun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belum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sepenuhnya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aman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masih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i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ada</a:t>
            </a:r>
            <a:r>
              <a:rPr lang="en-US" sz="10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efficiency cut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marL="114300" lvl="0" indent="-152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153;p29">
            <a:extLst>
              <a:ext uri="{FF2B5EF4-FFF2-40B4-BE49-F238E27FC236}">
                <a16:creationId xmlns:a16="http://schemas.microsoft.com/office/drawing/2014/main" id="{82EDE723-D76D-BAC0-6A28-AE6AAAC7C686}"/>
              </a:ext>
            </a:extLst>
          </p:cNvPr>
          <p:cNvSpPr/>
          <p:nvPr/>
        </p:nvSpPr>
        <p:spPr>
          <a:xfrm flipH="1">
            <a:off x="4489404" y="3347502"/>
            <a:ext cx="82595" cy="1202196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" name="Google Shape;149;p29">
            <a:extLst>
              <a:ext uri="{FF2B5EF4-FFF2-40B4-BE49-F238E27FC236}">
                <a16:creationId xmlns:a16="http://schemas.microsoft.com/office/drawing/2014/main" id="{C1A32B54-066F-41A7-A321-3F740C28CBBA}"/>
              </a:ext>
            </a:extLst>
          </p:cNvPr>
          <p:cNvSpPr txBox="1"/>
          <p:nvPr/>
        </p:nvSpPr>
        <p:spPr>
          <a:xfrm>
            <a:off x="349800" y="3347502"/>
            <a:ext cx="4119479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</a:pPr>
            <a:r>
              <a:rPr lang="id-ID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Setelah </a:t>
            </a:r>
            <a:r>
              <a:rPr lang="id-ID" sz="1000" i="1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  <a:r>
              <a:rPr lang="id-ID" sz="1000" i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id-ID" sz="1000" i="1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review</a:t>
            </a:r>
            <a:r>
              <a:rPr lang="id-ID" sz="1000" i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id-ID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akhir tahun, perusahaan cenderung melepas karyawan yang dianggap </a:t>
            </a:r>
            <a:r>
              <a:rPr lang="id-ID" sz="10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underperforming</a:t>
            </a:r>
            <a:r>
              <a:rPr lang="id-ID" sz="10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atau menutup divisi yang tidak profit di awal tahun.</a:t>
            </a:r>
            <a:endParaRPr sz="1000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3650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6AD98-2C91-6AE3-94FD-6315270A6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7;p29">
            <a:extLst>
              <a:ext uri="{FF2B5EF4-FFF2-40B4-BE49-F238E27FC236}">
                <a16:creationId xmlns:a16="http://schemas.microsoft.com/office/drawing/2014/main" id="{7ACCB35B-B0A2-B04B-3454-135F0C62B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4100" y="448050"/>
            <a:ext cx="82113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2"/>
                </a:solidFill>
              </a:rPr>
              <a:t>Industry &amp; Stage Profile</a:t>
            </a:r>
            <a:endParaRPr lang="id-ID" b="1" dirty="0">
              <a:solidFill>
                <a:schemeClr val="dk2"/>
              </a:solidFill>
            </a:endParaRPr>
          </a:p>
        </p:txBody>
      </p:sp>
      <p:sp>
        <p:nvSpPr>
          <p:cNvPr id="5" name="Google Shape;148;p29">
            <a:extLst>
              <a:ext uri="{FF2B5EF4-FFF2-40B4-BE49-F238E27FC236}">
                <a16:creationId xmlns:a16="http://schemas.microsoft.com/office/drawing/2014/main" id="{FECE876A-4A9E-E9D4-92AE-240493E33545}"/>
              </a:ext>
            </a:extLst>
          </p:cNvPr>
          <p:cNvSpPr/>
          <p:nvPr/>
        </p:nvSpPr>
        <p:spPr>
          <a:xfrm>
            <a:off x="311700" y="522003"/>
            <a:ext cx="76200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" name="Google Shape;149;p29">
            <a:extLst>
              <a:ext uri="{FF2B5EF4-FFF2-40B4-BE49-F238E27FC236}">
                <a16:creationId xmlns:a16="http://schemas.microsoft.com/office/drawing/2014/main" id="{63CFA52A-7F25-B5D2-BF92-05A023981C02}"/>
              </a:ext>
            </a:extLst>
          </p:cNvPr>
          <p:cNvSpPr txBox="1"/>
          <p:nvPr/>
        </p:nvSpPr>
        <p:spPr>
          <a:xfrm>
            <a:off x="4592124" y="3067939"/>
            <a:ext cx="4313295" cy="177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Industri Retail, Consumer, dan Transportation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adalah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yang paling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terdampak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secara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volume. Ini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berkorelasi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penurunan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daya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beli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konsumen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global. Ini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berarti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secara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jumlah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kepala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(orang),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industri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inilah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yang paling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banyak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memecat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karyawan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Industri Motor </a:t>
            </a:r>
            <a:r>
              <a:rPr lang="id-ID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Vehicle</a:t>
            </a: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Manufacturing (Otomotif) dan Hardware memiliki batang tertinggi dalam hal rata-rata persentase PHK (mencapai angka ekstrem seperti 60%).</a:t>
            </a:r>
            <a:endParaRPr lang="en-US"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153;p29">
            <a:extLst>
              <a:ext uri="{FF2B5EF4-FFF2-40B4-BE49-F238E27FC236}">
                <a16:creationId xmlns:a16="http://schemas.microsoft.com/office/drawing/2014/main" id="{DCF96AAD-7DA9-0E41-4CD0-D0AFD31534AD}"/>
              </a:ext>
            </a:extLst>
          </p:cNvPr>
          <p:cNvSpPr/>
          <p:nvPr/>
        </p:nvSpPr>
        <p:spPr>
          <a:xfrm flipH="1">
            <a:off x="4477842" y="3295463"/>
            <a:ext cx="82595" cy="1202196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" name="Google Shape;149;p29">
            <a:extLst>
              <a:ext uri="{FF2B5EF4-FFF2-40B4-BE49-F238E27FC236}">
                <a16:creationId xmlns:a16="http://schemas.microsoft.com/office/drawing/2014/main" id="{8A7AD97B-6EBF-2A58-EC74-7D99203E8416}"/>
              </a:ext>
            </a:extLst>
          </p:cNvPr>
          <p:cNvSpPr txBox="1"/>
          <p:nvPr/>
        </p:nvSpPr>
        <p:spPr>
          <a:xfrm>
            <a:off x="349800" y="3347502"/>
            <a:ext cx="4119479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</a:pPr>
            <a:r>
              <a:rPr lang="id-ID" sz="1000" b="1" dirty="0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Jika kita bicara soal Tingkat Bahaya atau risiko </a:t>
            </a:r>
            <a:r>
              <a:rPr lang="id-ID" sz="1000" b="1" dirty="0" err="1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karir</a:t>
            </a:r>
            <a:r>
              <a:rPr lang="id-ID" sz="1000" b="1" dirty="0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, sektor Otomotif dan Hardware adalah yang paling berisiko. Sekali ada PHK, dampaknya sangat dalam dan fatal.</a:t>
            </a:r>
            <a:endParaRPr sz="1000" b="1" dirty="0">
              <a:solidFill>
                <a:srgbClr val="C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 descr="A close-up of a keyboard&#10;&#10;AI-generated content may be incorrect.">
            <a:extLst>
              <a:ext uri="{FF2B5EF4-FFF2-40B4-BE49-F238E27FC236}">
                <a16:creationId xmlns:a16="http://schemas.microsoft.com/office/drawing/2014/main" id="{EEFC4588-2FEE-BDB2-BDE3-0354B7A0B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62" y="979203"/>
            <a:ext cx="7273278" cy="20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1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E095-3FA1-3D4B-E2E3-87DC4E8F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7;p29">
            <a:extLst>
              <a:ext uri="{FF2B5EF4-FFF2-40B4-BE49-F238E27FC236}">
                <a16:creationId xmlns:a16="http://schemas.microsoft.com/office/drawing/2014/main" id="{8A51948B-0BD5-6C69-56DD-FA4E608D56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4100" y="448050"/>
            <a:ext cx="82113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2"/>
                </a:solidFill>
              </a:rPr>
              <a:t>Maturity &amp; Vulnerability: STARTUP vs. GIANTS</a:t>
            </a:r>
            <a:endParaRPr lang="id-ID" b="1" dirty="0">
              <a:solidFill>
                <a:schemeClr val="dk2"/>
              </a:solidFill>
            </a:endParaRPr>
          </a:p>
        </p:txBody>
      </p:sp>
      <p:sp>
        <p:nvSpPr>
          <p:cNvPr id="5" name="Google Shape;148;p29">
            <a:extLst>
              <a:ext uri="{FF2B5EF4-FFF2-40B4-BE49-F238E27FC236}">
                <a16:creationId xmlns:a16="http://schemas.microsoft.com/office/drawing/2014/main" id="{24C134AD-09D4-10B4-E5A8-8CCCEB63432D}"/>
              </a:ext>
            </a:extLst>
          </p:cNvPr>
          <p:cNvSpPr/>
          <p:nvPr/>
        </p:nvSpPr>
        <p:spPr>
          <a:xfrm>
            <a:off x="311700" y="522003"/>
            <a:ext cx="76200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" name="Google Shape;149;p29">
            <a:extLst>
              <a:ext uri="{FF2B5EF4-FFF2-40B4-BE49-F238E27FC236}">
                <a16:creationId xmlns:a16="http://schemas.microsoft.com/office/drawing/2014/main" id="{671D36AB-1B7F-E6C4-B8AB-401CBD0E33E0}"/>
              </a:ext>
            </a:extLst>
          </p:cNvPr>
          <p:cNvSpPr txBox="1"/>
          <p:nvPr/>
        </p:nvSpPr>
        <p:spPr>
          <a:xfrm>
            <a:off x="4583565" y="3103068"/>
            <a:ext cx="4313295" cy="142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Kategori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Post-IPO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menyumbang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jumlah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korban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terbanyak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secara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angka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absolut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(Volume)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efisiensi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Namun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akumulasi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Startup 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(Series B, Unknown)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jika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digabungkan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dampaknya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juga sangat massif.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Bedanya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Startup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memecat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orang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bukan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efisiensi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tapi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bertahan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hidup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153;p29">
            <a:extLst>
              <a:ext uri="{FF2B5EF4-FFF2-40B4-BE49-F238E27FC236}">
                <a16:creationId xmlns:a16="http://schemas.microsoft.com/office/drawing/2014/main" id="{B4FCF5F5-77DE-25BC-B897-B15C5F2269D1}"/>
              </a:ext>
            </a:extLst>
          </p:cNvPr>
          <p:cNvSpPr/>
          <p:nvPr/>
        </p:nvSpPr>
        <p:spPr>
          <a:xfrm flipH="1">
            <a:off x="4477842" y="3213688"/>
            <a:ext cx="82595" cy="1202196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" name="Google Shape;149;p29">
            <a:extLst>
              <a:ext uri="{FF2B5EF4-FFF2-40B4-BE49-F238E27FC236}">
                <a16:creationId xmlns:a16="http://schemas.microsoft.com/office/drawing/2014/main" id="{9D1D4987-6722-2D77-9C45-0AB270E28EA8}"/>
              </a:ext>
            </a:extLst>
          </p:cNvPr>
          <p:cNvSpPr txBox="1"/>
          <p:nvPr/>
        </p:nvSpPr>
        <p:spPr>
          <a:xfrm>
            <a:off x="349800" y="3265727"/>
            <a:ext cx="4119479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</a:pPr>
            <a:r>
              <a:rPr lang="id-ID" sz="1000" b="1" dirty="0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Jadi, krisis ini adalah pedang bermata dua: Raksasa memangkas 'lemak’,</a:t>
            </a:r>
            <a:r>
              <a:rPr lang="en-US" sz="1000" b="1" dirty="0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id-ID" sz="1000" b="1" dirty="0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sementara </a:t>
            </a:r>
            <a:r>
              <a:rPr lang="id-ID" sz="1000" b="1" dirty="0" err="1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Startup</a:t>
            </a:r>
            <a:r>
              <a:rPr lang="id-ID" sz="1000" b="1" dirty="0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 memotong 'kaki' mereka sendiri agar tidak mati."</a:t>
            </a:r>
            <a:endParaRPr sz="1000" b="1" dirty="0">
              <a:solidFill>
                <a:srgbClr val="C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" name="Picture 5" descr="A graph with red and orange bars&#10;&#10;AI-generated content may be incorrect.">
            <a:extLst>
              <a:ext uri="{FF2B5EF4-FFF2-40B4-BE49-F238E27FC236}">
                <a16:creationId xmlns:a16="http://schemas.microsoft.com/office/drawing/2014/main" id="{FB1CBA4D-EFF6-8F5B-22D4-2004A1D67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95" y="1053150"/>
            <a:ext cx="6933568" cy="189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50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69E04-183E-4BCB-3C59-B4C8451A3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7;p29">
            <a:extLst>
              <a:ext uri="{FF2B5EF4-FFF2-40B4-BE49-F238E27FC236}">
                <a16:creationId xmlns:a16="http://schemas.microsoft.com/office/drawing/2014/main" id="{3C542C14-300F-7F72-E58D-AF9092AC04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134" y="11896"/>
            <a:ext cx="82113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2"/>
                </a:solidFill>
              </a:rPr>
              <a:t>Maturity &amp; Vulnerability: STARTUP vs. GIANTS</a:t>
            </a:r>
            <a:endParaRPr lang="id-ID" b="1" dirty="0">
              <a:solidFill>
                <a:schemeClr val="dk2"/>
              </a:solidFill>
            </a:endParaRPr>
          </a:p>
        </p:txBody>
      </p:sp>
      <p:sp>
        <p:nvSpPr>
          <p:cNvPr id="5" name="Google Shape;148;p29">
            <a:extLst>
              <a:ext uri="{FF2B5EF4-FFF2-40B4-BE49-F238E27FC236}">
                <a16:creationId xmlns:a16="http://schemas.microsoft.com/office/drawing/2014/main" id="{E9393933-C316-7EF2-DA69-6D79903E40EC}"/>
              </a:ext>
            </a:extLst>
          </p:cNvPr>
          <p:cNvSpPr/>
          <p:nvPr/>
        </p:nvSpPr>
        <p:spPr>
          <a:xfrm>
            <a:off x="928734" y="85849"/>
            <a:ext cx="76200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" name="Google Shape;149;p29">
            <a:extLst>
              <a:ext uri="{FF2B5EF4-FFF2-40B4-BE49-F238E27FC236}">
                <a16:creationId xmlns:a16="http://schemas.microsoft.com/office/drawing/2014/main" id="{BC5405E0-8103-07B4-33E5-5E049CEF203D}"/>
              </a:ext>
            </a:extLst>
          </p:cNvPr>
          <p:cNvSpPr txBox="1"/>
          <p:nvPr/>
        </p:nvSpPr>
        <p:spPr>
          <a:xfrm>
            <a:off x="3749571" y="3035594"/>
            <a:ext cx="5141668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Money 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≠ </a:t>
            </a:r>
            <a:r>
              <a:rPr lang="id-ID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Safety</a:t>
            </a: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Grafik </a:t>
            </a:r>
            <a:r>
              <a:rPr lang="id-ID" sz="1000" i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Scatter</a:t>
            </a:r>
            <a:r>
              <a:rPr lang="id-ID" sz="10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Plot </a:t>
            </a: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menunjukkan bahwa perusahaan dengan pendanaan besar (</a:t>
            </a:r>
            <a:r>
              <a:rPr lang="id-ID" sz="10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Money </a:t>
            </a:r>
            <a:r>
              <a:rPr lang="id-ID" sz="1000" i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Raised</a:t>
            </a:r>
            <a:r>
              <a:rPr lang="id-ID" sz="10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tinggi) tidak kebal terhadap PHK. Banyak titik merah (perusahaan) dengan pendanaan &gt;$100M tetap melakukan PHK besar-besaran.</a:t>
            </a:r>
            <a:endParaRPr lang="en-US"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Perusahaan kecil (&lt;100 karyawan) memiliki rata-rata persentase PHK tertinggi (47.04%).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mereka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cenderung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memotong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hampir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setengah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tenaga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kerja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mereka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yang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seringkali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berujung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pada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penutupan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operasional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153;p29">
            <a:extLst>
              <a:ext uri="{FF2B5EF4-FFF2-40B4-BE49-F238E27FC236}">
                <a16:creationId xmlns:a16="http://schemas.microsoft.com/office/drawing/2014/main" id="{8D677B3C-3056-FE0D-D4F0-98D077DDD739}"/>
              </a:ext>
            </a:extLst>
          </p:cNvPr>
          <p:cNvSpPr/>
          <p:nvPr/>
        </p:nvSpPr>
        <p:spPr>
          <a:xfrm flipH="1">
            <a:off x="3643847" y="3146213"/>
            <a:ext cx="105723" cy="1373747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" name="Picture 2" descr="A graph of red dots&#10;&#10;AI-generated content may be incorrect.">
            <a:extLst>
              <a:ext uri="{FF2B5EF4-FFF2-40B4-BE49-F238E27FC236}">
                <a16:creationId xmlns:a16="http://schemas.microsoft.com/office/drawing/2014/main" id="{CFB700D1-B381-A5DA-9CA0-3E0ABAE73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96" y="664588"/>
            <a:ext cx="2465072" cy="3775617"/>
          </a:xfrm>
          <a:prstGeom prst="rect">
            <a:avLst/>
          </a:prstGeom>
        </p:spPr>
      </p:pic>
      <p:pic>
        <p:nvPicPr>
          <p:cNvPr id="11" name="Picture 10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2C60FD8A-134E-E4A8-661C-43186D134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155" y="616996"/>
            <a:ext cx="3384740" cy="241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19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CAE54-0D38-362E-17CF-FD32E881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7;p29">
            <a:extLst>
              <a:ext uri="{FF2B5EF4-FFF2-40B4-BE49-F238E27FC236}">
                <a16:creationId xmlns:a16="http://schemas.microsoft.com/office/drawing/2014/main" id="{36A654CC-F2AA-9EF8-E226-7A1FAD493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1134" y="11896"/>
            <a:ext cx="82113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2"/>
                </a:solidFill>
              </a:rPr>
              <a:t>Critical Alerts</a:t>
            </a:r>
            <a:endParaRPr lang="id-ID" b="1" dirty="0">
              <a:solidFill>
                <a:schemeClr val="dk2"/>
              </a:solidFill>
            </a:endParaRPr>
          </a:p>
        </p:txBody>
      </p:sp>
      <p:sp>
        <p:nvSpPr>
          <p:cNvPr id="5" name="Google Shape;148;p29">
            <a:extLst>
              <a:ext uri="{FF2B5EF4-FFF2-40B4-BE49-F238E27FC236}">
                <a16:creationId xmlns:a16="http://schemas.microsoft.com/office/drawing/2014/main" id="{AD8C6582-85A7-13DC-31BB-24FBC64D29C8}"/>
              </a:ext>
            </a:extLst>
          </p:cNvPr>
          <p:cNvSpPr/>
          <p:nvPr/>
        </p:nvSpPr>
        <p:spPr>
          <a:xfrm>
            <a:off x="928734" y="85849"/>
            <a:ext cx="76200" cy="457200"/>
          </a:xfrm>
          <a:prstGeom prst="rect">
            <a:avLst/>
          </a:prstGeom>
          <a:solidFill>
            <a:srgbClr val="0E60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" name="Google Shape;149;p29">
            <a:extLst>
              <a:ext uri="{FF2B5EF4-FFF2-40B4-BE49-F238E27FC236}">
                <a16:creationId xmlns:a16="http://schemas.microsoft.com/office/drawing/2014/main" id="{DFA79CB2-984F-A7DC-9882-FDD7D7F714CC}"/>
              </a:ext>
            </a:extLst>
          </p:cNvPr>
          <p:cNvSpPr txBox="1"/>
          <p:nvPr/>
        </p:nvSpPr>
        <p:spPr>
          <a:xfrm>
            <a:off x="663282" y="3317706"/>
            <a:ext cx="7581507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Terdapat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138 Perusahaan yang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bangkrut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atau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gulung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tikar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Angka 100% berarti perusahaan tersebut tutup operasi, membubarkan seluruh tim, dan kemungkinan besar melikuidasi asetnya.</a:t>
            </a:r>
            <a:endParaRPr lang="en-US"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id-ID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Lilium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notabene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</a:t>
            </a:r>
            <a:r>
              <a:rPr lang="id-ID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erusahaan</a:t>
            </a: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id-ID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Post</a:t>
            </a: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-IPO (sudah melantai di bursa) di sektor </a:t>
            </a:r>
            <a:r>
              <a:rPr lang="id-ID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Aerospace</a:t>
            </a:r>
            <a:r>
              <a:rPr lang="en-US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saja</a:t>
            </a: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memecat 100% karyawan (1.000 orang).</a:t>
            </a:r>
            <a:endParaRPr lang="en-US"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 panose="020B0604020202020204" pitchFamily="34" charset="0"/>
              <a:buChar char="•"/>
            </a:pP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Kasus </a:t>
            </a:r>
            <a:r>
              <a:rPr lang="id-ID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Lilium</a:t>
            </a: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membuktikan bahwa perusahaan yang sudah Go </a:t>
            </a:r>
            <a:r>
              <a:rPr lang="id-ID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Public</a:t>
            </a: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id-ID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Post</a:t>
            </a: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-IPO) pun bisa bangkrut total. Status "Tbk" tidak menjamin kelangsungan hidup jika model bisnis tidak berkelanjutan (</a:t>
            </a:r>
            <a:r>
              <a:rPr lang="id-ID" sz="1000" i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sustainable</a:t>
            </a:r>
            <a:r>
              <a:rPr lang="id-ID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153;p29">
            <a:extLst>
              <a:ext uri="{FF2B5EF4-FFF2-40B4-BE49-F238E27FC236}">
                <a16:creationId xmlns:a16="http://schemas.microsoft.com/office/drawing/2014/main" id="{F5DCE5DD-1D65-95A2-8CEE-248FB201E3FB}"/>
              </a:ext>
            </a:extLst>
          </p:cNvPr>
          <p:cNvSpPr/>
          <p:nvPr/>
        </p:nvSpPr>
        <p:spPr>
          <a:xfrm>
            <a:off x="616447" y="3396866"/>
            <a:ext cx="46835" cy="1048754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2AA5E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A13C15-945F-D640-6F25-6E85168D31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70"/>
          <a:stretch>
            <a:fillRect/>
          </a:stretch>
        </p:blipFill>
        <p:spPr>
          <a:xfrm>
            <a:off x="557560" y="616996"/>
            <a:ext cx="6304403" cy="2626763"/>
          </a:xfrm>
          <a:prstGeom prst="rect">
            <a:avLst/>
          </a:prstGeom>
        </p:spPr>
      </p:pic>
      <p:pic>
        <p:nvPicPr>
          <p:cNvPr id="13" name="Picture 12" descr="A close up of numbers&#10;&#10;AI-generated content may be incorrect.">
            <a:extLst>
              <a:ext uri="{FF2B5EF4-FFF2-40B4-BE49-F238E27FC236}">
                <a16:creationId xmlns:a16="http://schemas.microsoft.com/office/drawing/2014/main" id="{FACE6317-7588-A807-E57A-21989A7D6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99" y="1409978"/>
            <a:ext cx="1743318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52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836D9-A0A8-9AEB-7ACC-9C379414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4;p25">
            <a:extLst>
              <a:ext uri="{FF2B5EF4-FFF2-40B4-BE49-F238E27FC236}">
                <a16:creationId xmlns:a16="http://schemas.microsoft.com/office/drawing/2014/main" id="{E1C167E2-13DC-3985-1B7B-044779EC352C}"/>
              </a:ext>
            </a:extLst>
          </p:cNvPr>
          <p:cNvSpPr/>
          <p:nvPr/>
        </p:nvSpPr>
        <p:spPr>
          <a:xfrm>
            <a:off x="630504" y="887980"/>
            <a:ext cx="3560700" cy="337922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3F7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id-ID"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id-ID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Industri teknologi telah meninggalkan mentalitas "</a:t>
            </a:r>
            <a:r>
              <a:rPr lang="id-ID" sz="1100" dirty="0" err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Growth</a:t>
            </a:r>
            <a:r>
              <a:rPr lang="id-ID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id-ID" sz="1100" dirty="0" err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id-ID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All </a:t>
            </a:r>
            <a:r>
              <a:rPr lang="id-ID" sz="1100" dirty="0" err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Costs</a:t>
            </a:r>
            <a:r>
              <a:rPr lang="id-ID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" demi mengejar profitabilitas, yang mengakibatkan koreksi pasar masif terhadap 558.000+ karyawan.</a:t>
            </a:r>
            <a:endParaRPr lang="en-US"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id-ID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Data membuktikan bahwa besarnya pendanaan investor (Total 1.2M dalam </a:t>
            </a:r>
            <a:r>
              <a:rPr lang="id-ID" sz="1100" dirty="0" err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dataset</a:t>
            </a:r>
            <a:r>
              <a:rPr lang="id-ID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 tidak menjamin keamanan kerja; kesehatan arus kas (</a:t>
            </a:r>
            <a:r>
              <a:rPr lang="id-ID" sz="1100" dirty="0" err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cash</a:t>
            </a:r>
            <a:r>
              <a:rPr lang="id-ID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id-ID" sz="1100" dirty="0" err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flow</a:t>
            </a:r>
            <a:r>
              <a:rPr lang="id-ID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) jauh lebih krusial daripada total modal yang dihimpun.</a:t>
            </a:r>
            <a:endParaRPr lang="en-US"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id-ID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perbedaan nasib yang mencolok: Perusahaan Raksasa melakukan PHK untuk efisiensi (tetap beroperasi), sedangkan </a:t>
            </a:r>
            <a:r>
              <a:rPr lang="id-ID" sz="1100" dirty="0" err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Startup</a:t>
            </a:r>
            <a:r>
              <a:rPr lang="id-ID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menghadapi risiko kebangkrutan total (138 perusahaan tutup).</a:t>
            </a:r>
          </a:p>
        </p:txBody>
      </p:sp>
      <p:sp>
        <p:nvSpPr>
          <p:cNvPr id="4" name="Google Shape;105;p25">
            <a:extLst>
              <a:ext uri="{FF2B5EF4-FFF2-40B4-BE49-F238E27FC236}">
                <a16:creationId xmlns:a16="http://schemas.microsoft.com/office/drawing/2014/main" id="{13A75EDE-0E72-A01A-8AAC-BC677044DC66}"/>
              </a:ext>
            </a:extLst>
          </p:cNvPr>
          <p:cNvSpPr/>
          <p:nvPr/>
        </p:nvSpPr>
        <p:spPr>
          <a:xfrm>
            <a:off x="1142456" y="778405"/>
            <a:ext cx="2574900" cy="321900"/>
          </a:xfrm>
          <a:prstGeom prst="rect">
            <a:avLst/>
          </a:prstGeom>
          <a:solidFill>
            <a:srgbClr val="C3F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2DE61-B557-66DA-BBE4-0F01007BF6D8}"/>
              </a:ext>
            </a:extLst>
          </p:cNvPr>
          <p:cNvSpPr txBox="1"/>
          <p:nvPr/>
        </p:nvSpPr>
        <p:spPr>
          <a:xfrm>
            <a:off x="933652" y="165501"/>
            <a:ext cx="5928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4F63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|</a:t>
            </a:r>
            <a:r>
              <a:rPr lang="en-US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Conclusion &amp; Recommendation</a:t>
            </a:r>
            <a:endParaRPr lang="id-ID" sz="2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Google Shape;104;p25">
            <a:extLst>
              <a:ext uri="{FF2B5EF4-FFF2-40B4-BE49-F238E27FC236}">
                <a16:creationId xmlns:a16="http://schemas.microsoft.com/office/drawing/2014/main" id="{CBAC35B7-C579-10F8-A64E-07E9880D94F2}"/>
              </a:ext>
            </a:extLst>
          </p:cNvPr>
          <p:cNvSpPr/>
          <p:nvPr/>
        </p:nvSpPr>
        <p:spPr>
          <a:xfrm>
            <a:off x="4423316" y="887980"/>
            <a:ext cx="4023289" cy="337922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3F7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US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1.   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Untuk Pencari Kerja (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Talent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):</a:t>
            </a:r>
            <a:endParaRPr lang="en-US"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3" indent="-171450">
              <a:buClr>
                <a:schemeClr val="bg1"/>
              </a:buClr>
              <a:buFontTx/>
              <a:buChar char="-"/>
            </a:pP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Pilih Sektor: Prioritaskan sektor B2B 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SaaS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yang lebih stabil dibandingkan sektor Hardware/EV atau Retail yang padat modal.</a:t>
            </a:r>
            <a:endParaRPr lang="en-US"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3" indent="-171450">
              <a:buClr>
                <a:schemeClr val="bg1"/>
              </a:buClr>
              <a:buFontTx/>
              <a:buChar char="-"/>
            </a:pP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Timing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: Waspadai siklus "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January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Purge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"; hindari perpindahan 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karir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berisiko di akhir tahun (Q4) tanpa persiapan matang.</a:t>
            </a:r>
            <a:endParaRPr lang="en-US"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3">
              <a:buClr>
                <a:schemeClr val="bg1"/>
              </a:buClr>
            </a:pPr>
            <a:r>
              <a:rPr lang="en-US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2.  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Untuk Investor &amp; Pemimpin Bisnis:</a:t>
            </a:r>
            <a:endParaRPr lang="en-US"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3" indent="-171450">
              <a:buClr>
                <a:schemeClr val="bg1"/>
              </a:buClr>
              <a:buFontTx/>
              <a:buChar char="-"/>
            </a:pP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Metrik Baru: Ubah fokus evaluasi dari sekadar "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Valuasi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" menjadi "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Sustainability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" (Keberlanjutan &amp; </a:t>
            </a: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Burn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Rate) untuk menghindari kasus kegagalan total.</a:t>
            </a:r>
            <a:endParaRPr lang="en-US" sz="11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lvl="3" indent="-171450">
              <a:buClr>
                <a:schemeClr val="bg1"/>
              </a:buClr>
              <a:buFontTx/>
              <a:buChar char="-"/>
            </a:pPr>
            <a:r>
              <a:rPr lang="id-ID" sz="1100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Mitigasi</a:t>
            </a:r>
            <a:r>
              <a:rPr lang="id-ID" sz="11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: Lakukan diversifikasi portofolio karena sektor berbasis konsumen (Retail/Transport) sangat rentan terhadap fluktuasi daya beli.</a:t>
            </a:r>
          </a:p>
        </p:txBody>
      </p:sp>
      <p:sp>
        <p:nvSpPr>
          <p:cNvPr id="7" name="Google Shape;105;p25">
            <a:extLst>
              <a:ext uri="{FF2B5EF4-FFF2-40B4-BE49-F238E27FC236}">
                <a16:creationId xmlns:a16="http://schemas.microsoft.com/office/drawing/2014/main" id="{49565586-821C-75CB-B2A3-0F53B78FEBE7}"/>
              </a:ext>
            </a:extLst>
          </p:cNvPr>
          <p:cNvSpPr/>
          <p:nvPr/>
        </p:nvSpPr>
        <p:spPr>
          <a:xfrm>
            <a:off x="5063338" y="778405"/>
            <a:ext cx="2909419" cy="321900"/>
          </a:xfrm>
          <a:prstGeom prst="rect">
            <a:avLst/>
          </a:prstGeom>
          <a:solidFill>
            <a:srgbClr val="C3F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Recommendation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545407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6;p1">
            <a:extLst>
              <a:ext uri="{FF2B5EF4-FFF2-40B4-BE49-F238E27FC236}">
                <a16:creationId xmlns:a16="http://schemas.microsoft.com/office/drawing/2014/main" id="{C046E6F7-A22E-9B18-CA0E-0253F6628B54}"/>
              </a:ext>
            </a:extLst>
          </p:cNvPr>
          <p:cNvSpPr txBox="1"/>
          <p:nvPr/>
        </p:nvSpPr>
        <p:spPr>
          <a:xfrm>
            <a:off x="438724" y="1155545"/>
            <a:ext cx="5233530" cy="2832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r>
              <a:rPr lang="id-ID" sz="2400" b="1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Irfan Maulana</a:t>
            </a:r>
            <a:endParaRPr lang="en" sz="2400" b="1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Bootcamp Data Analyst with SQL &amp; Python using Google Platform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Dataset: </a:t>
            </a:r>
            <a:r>
              <a:rPr lang="id-ID" dirty="0" err="1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3"/>
              </a:rPr>
              <a:t>Kaggle</a:t>
            </a:r>
            <a:endParaRPr lang="en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lvl="0"/>
            <a:r>
              <a:rPr lang="en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Dashboard: </a:t>
            </a:r>
            <a:r>
              <a:rPr lang="id-ID" dirty="0" err="1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4"/>
              </a:rPr>
              <a:t>Looker</a:t>
            </a:r>
            <a:r>
              <a:rPr lang="id-ID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4"/>
              </a:rPr>
              <a:t> Studio</a:t>
            </a:r>
            <a:endParaRPr lang="en-US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lvl="0"/>
            <a:r>
              <a:rPr lang="en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Data Cleaning: </a:t>
            </a:r>
            <a:r>
              <a:rPr lang="id-ID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5"/>
              </a:rPr>
              <a:t>Google </a:t>
            </a:r>
            <a:r>
              <a:rPr lang="id-ID" dirty="0" err="1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5"/>
              </a:rPr>
              <a:t>Colab</a:t>
            </a:r>
            <a:endParaRPr lang="en-US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b="1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Follow me: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Instagram: @i.ipaang</a:t>
            </a:r>
          </a:p>
          <a:p>
            <a:pPr lvl="0"/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LinkedIn: </a:t>
            </a:r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6"/>
              </a:rPr>
              <a:t>https://www.linkedin.com/in/maulana-irfan/</a:t>
            </a:r>
            <a:endParaRPr lang="en-US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lvl="0"/>
            <a:r>
              <a:rPr lang="en-US" dirty="0" err="1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Github</a:t>
            </a:r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</a:rPr>
              <a:t>: </a:t>
            </a:r>
            <a:r>
              <a:rPr lang="en-US" dirty="0">
                <a:solidFill>
                  <a:srgbClr val="212121"/>
                </a:solidFill>
                <a:latin typeface="Poppins" panose="00000500000000000000" pitchFamily="2" charset="0"/>
                <a:ea typeface="Poppins SemiBold"/>
                <a:cs typeface="Poppins" panose="00000500000000000000" pitchFamily="2" charset="0"/>
                <a:sym typeface="Poppins SemiBold"/>
                <a:hlinkClick r:id="rId7"/>
              </a:rPr>
              <a:t>https://github.com/fafnir96</a:t>
            </a:r>
            <a:endParaRPr lang="en-US"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  <a:p>
            <a:pPr lvl="0"/>
            <a:endParaRPr dirty="0">
              <a:solidFill>
                <a:srgbClr val="212121"/>
              </a:solidFill>
              <a:latin typeface="Poppins" panose="00000500000000000000" pitchFamily="2" charset="0"/>
              <a:ea typeface="Poppins SemiBold"/>
              <a:cs typeface="Poppins" panose="00000500000000000000" pitchFamily="2" charset="0"/>
              <a:sym typeface="Poppi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1102</Words>
  <Application>Microsoft Office PowerPoint</Application>
  <PresentationFormat>On-screen Show (16:9)</PresentationFormat>
  <Paragraphs>91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Poppins SemiBold</vt:lpstr>
      <vt:lpstr>Arial</vt:lpstr>
      <vt:lpstr>Poppins Light</vt:lpstr>
      <vt:lpstr>Poppins</vt:lpstr>
      <vt:lpstr>Simple Light</vt:lpstr>
      <vt:lpstr>Simple Light</vt:lpstr>
      <vt:lpstr>Global Tech Layoff Analysis (2020 - 2024)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Axioo Pongo</dc:creator>
  <cp:lastModifiedBy>Irfan Maulana</cp:lastModifiedBy>
  <cp:revision>18</cp:revision>
  <dcterms:modified xsi:type="dcterms:W3CDTF">2025-12-23T11:31:08Z</dcterms:modified>
</cp:coreProperties>
</file>